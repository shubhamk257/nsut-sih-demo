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714" y="11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9/10/2026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9/10/2026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9/10/2026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9/10/2026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9/10/2026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9/10/2026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9/10/2026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9/10/2026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528433"/>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TITLE PAGE</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1878902"/>
          </a:xfrm>
        </p:spPr>
        <p:txBody>
          <a:bodyPr/>
          <a:lstStyle/>
          <a:p>
            <a:r>
              <a:rPr lang="en-US" sz="2800" b="1" dirty="0">
                <a:solidFill>
                  <a:schemeClr val="tx2"/>
                </a:solidFill>
                <a:latin typeface="Garamond" panose="02020404030301010803" pitchFamily="18" charset="0"/>
              </a:rPr>
              <a:t>SMART INDIA HACKATHON 2026</a:t>
            </a:r>
            <a:endParaRPr lang="en-IN" sz="2800" b="1" dirty="0">
              <a:solidFill>
                <a:schemeClr val="tx2"/>
              </a:solidFill>
              <a:latin typeface="Garamond" panose="02020404030301010803" pitchFamily="18" charset="0"/>
            </a:endParaRPr>
          </a:p>
        </p:txBody>
      </p:sp>
      <p:sp>
        <p:nvSpPr>
          <p:cNvPr id="10" name="TextBox 9"/>
          <p:cNvSpPr txBox="1"/>
          <p:nvPr/>
        </p:nvSpPr>
        <p:spPr>
          <a:xfrm>
            <a:off x="331286" y="1549693"/>
            <a:ext cx="5218724" cy="4569005"/>
          </a:xfrm>
          <a:prstGeom prst="rect">
            <a:avLst/>
          </a:prstGeom>
          <a:noFill/>
        </p:spPr>
        <p:txBody>
          <a:bodyPr wrap="square" rtlCol="0">
            <a:normAutofit fontScale="77500" lnSpcReduction="20000"/>
          </a:bodyPr>
          <a:lstStyle/>
          <a:p>
            <a:endParaRPr lang="en-US" dirty="0"/>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Problem Statement ID – SIH26178</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Problem Statement Title- PS : A resilient, AI-powered environmental monitoring network that provides early detection, localized intelligence, and actionable alerts for floods, forest fires, pollution events, and other environmental hazards common in India, enabling authorities and communities to shift from reactive disaster response to proactive risk prevention.</a:t>
            </a:r>
          </a:p>
          <a:p>
            <a:pPr algn="just">
              <a:lnSpc>
                <a:spcPct val="200000"/>
              </a:lnSpc>
            </a:pPr>
            <a:endParaRPr lang="en-US" sz="1600" b="1"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Theme- Disaster Management</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PS Category- Hardware</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Team Name - Avengers</a:t>
            </a:r>
            <a:endParaRPr lang="en-IN" sz="16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407116" y="-231291"/>
            <a:ext cx="10972800" cy="1143000"/>
          </a:xfrm>
        </p:spPr>
        <p:txBody>
          <a:bodyPr/>
          <a:lstStyle/>
          <a:p>
            <a:pPr eaLnBrk="1" hangingPunct="1"/>
            <a:br>
              <a:rPr lang="en-US" b="1" dirty="0">
                <a:latin typeface="Times New Roman" panose="02020603050405020304" pitchFamily="18" charset="0"/>
                <a:ea typeface="ＭＳ Ｐゴシック" pitchFamily="1" charset="-128"/>
                <a:cs typeface="Times New Roman" panose="02020603050405020304" pitchFamily="18" charset="0"/>
              </a:rPr>
            </a:br>
            <a:r>
              <a:rPr lang="en-US" sz="2800" b="1" dirty="0">
                <a:latin typeface="Times New Roman" panose="02020603050405020304" pitchFamily="18" charset="0"/>
                <a:ea typeface="ＭＳ Ｐゴシック" pitchFamily="1" charset="-128"/>
                <a:cs typeface="Times New Roman" panose="02020603050405020304" pitchFamily="18" charset="0"/>
              </a:rPr>
              <a:t>Resilient AI-Powered Environmental Monitoring </a:t>
            </a:r>
            <a:br>
              <a:rPr lang="en-US" sz="2800" b="1" dirty="0">
                <a:latin typeface="Times New Roman" panose="02020603050405020304" pitchFamily="18" charset="0"/>
                <a:ea typeface="ＭＳ Ｐゴシック" pitchFamily="1" charset="-128"/>
                <a:cs typeface="Times New Roman" panose="02020603050405020304" pitchFamily="18" charset="0"/>
              </a:rPr>
            </a:br>
            <a:r>
              <a:rPr lang="en-US" sz="2800" b="1" dirty="0">
                <a:latin typeface="Times New Roman" panose="02020603050405020304" pitchFamily="18" charset="0"/>
                <a:ea typeface="ＭＳ Ｐゴシック" pitchFamily="1" charset="-128"/>
                <a:cs typeface="Times New Roman" panose="02020603050405020304" pitchFamily="18" charset="0"/>
              </a:rPr>
              <a:t>Network For Early Multi-Hazard Detection</a:t>
            </a:r>
            <a:endParaRPr lang="en-US" b="1" dirty="0">
              <a:latin typeface="Times New Roman" panose="02020603050405020304" pitchFamily="18" charset="0"/>
              <a:ea typeface="ＭＳ Ｐゴシック" pitchFamily="1" charset="-128"/>
              <a:cs typeface="Times New Roman" panose="02020603050405020304" pitchFamily="18" charset="0"/>
            </a:endParaRPr>
          </a:p>
        </p:txBody>
      </p:sp>
      <p:sp>
        <p:nvSpPr>
          <p:cNvPr id="15362" name="TextBox 8"/>
          <p:cNvSpPr txBox="1">
            <a:spLocks noChangeArrowheads="1"/>
          </p:cNvSpPr>
          <p:nvPr/>
        </p:nvSpPr>
        <p:spPr bwMode="auto">
          <a:xfrm>
            <a:off x="1" y="1458476"/>
            <a:ext cx="12191999" cy="5632315"/>
          </a:xfrm>
          <a:prstGeom prst="rect">
            <a:avLst/>
          </a:prstGeom>
          <a:noFill/>
          <a:ln w="9525">
            <a:noFill/>
            <a:miter lim="800000"/>
            <a:headEnd/>
            <a:tailEnd/>
          </a:ln>
        </p:spPr>
        <p:txBody>
          <a:bodyPr wrap="square">
            <a:normAutofit/>
          </a:bodyPr>
          <a:lstStyle/>
          <a:p>
            <a:pPr marL="342900" indent="-342900">
              <a:buFont typeface="Wingdings" panose="05000000000000000000" pitchFamily="2" charset="2"/>
              <a:buChar char="v"/>
            </a:pPr>
            <a:r>
              <a:rPr lang="en-US" sz="2000" b="1" u="sng" dirty="0">
                <a:solidFill>
                  <a:schemeClr val="tx2"/>
                </a:solidFill>
                <a:latin typeface="Arial" pitchFamily="34" charset="0"/>
                <a:cs typeface="Arial" pitchFamily="34" charset="0"/>
              </a:rPr>
              <a:t>PROPOSED SOLUTION</a:t>
            </a:r>
            <a:endParaRPr lang="en-US" sz="2000" u="sng" dirty="0">
              <a:solidFill>
                <a:schemeClr val="tx2"/>
              </a:solidFill>
              <a:latin typeface="Arial" pitchFamily="34" charset="0"/>
              <a:cs typeface="Arial" pitchFamily="34" charset="0"/>
            </a:endParaRPr>
          </a:p>
          <a:p>
            <a:pPr marL="342900" indent="-342900">
              <a:buFont typeface="Arial" panose="020B0604020202020204" pitchFamily="34" charset="0"/>
              <a:buChar char="•"/>
            </a:pPr>
            <a:endParaRPr lang="en-US" sz="2000" u="sng" dirty="0">
              <a:solidFill>
                <a:schemeClr val="tx2"/>
              </a:solidFill>
              <a:latin typeface="Arial" pitchFamily="34" charset="0"/>
              <a:cs typeface="Arial" pitchFamily="34" charset="0"/>
            </a:endParaRPr>
          </a:p>
          <a:p>
            <a:pPr marL="342900" indent="-342900">
              <a:buFont typeface="Arial" panose="020B0604020202020204" pitchFamily="34" charset="0"/>
              <a:buChar char="•"/>
            </a:pPr>
            <a:endParaRPr lang="en-US" sz="2000" u="sng" dirty="0">
              <a:solidFill>
                <a:schemeClr val="tx2"/>
              </a:solidFill>
              <a:latin typeface="Arial" pitchFamily="34" charset="0"/>
              <a:cs typeface="Arial" pitchFamily="34" charset="0"/>
            </a:endParaRPr>
          </a:p>
          <a:p>
            <a:pPr marL="342900" indent="-342900" algn="just">
              <a:buFont typeface="Arial" panose="020B0604020202020204" pitchFamily="34" charset="0"/>
              <a:buChar char="•"/>
            </a:pPr>
            <a:r>
              <a:rPr lang="en-US" sz="1600" dirty="0">
                <a:latin typeface="Arial" pitchFamily="34" charset="0"/>
                <a:cs typeface="Arial" pitchFamily="34" charset="0"/>
              </a:rPr>
              <a:t>Smart environmental telemetry nodes combining</a:t>
            </a:r>
          </a:p>
          <a:p>
            <a:pPr algn="just"/>
            <a:r>
              <a:rPr lang="en-US" sz="1600" dirty="0">
                <a:latin typeface="Arial" pitchFamily="34" charset="0"/>
                <a:cs typeface="Arial" pitchFamily="34" charset="0"/>
              </a:rPr>
              <a:t>      ESP32-S3 hardware, multi-parameter sensors </a:t>
            </a:r>
          </a:p>
          <a:p>
            <a:pPr algn="just"/>
            <a:r>
              <a:rPr lang="en-US" sz="1600" dirty="0">
                <a:latin typeface="Arial" pitchFamily="34" charset="0"/>
                <a:cs typeface="Arial" pitchFamily="34" charset="0"/>
              </a:rPr>
              <a:t>      (DHT11, MQ-2), and local  </a:t>
            </a:r>
            <a:r>
              <a:rPr lang="en-US" sz="1600" dirty="0" err="1">
                <a:latin typeface="Arial" pitchFamily="34" charset="0"/>
                <a:cs typeface="Arial" pitchFamily="34" charset="0"/>
              </a:rPr>
              <a:t>TinyML</a:t>
            </a:r>
            <a:r>
              <a:rPr lang="en-US" sz="1600" dirty="0">
                <a:latin typeface="Arial" pitchFamily="34" charset="0"/>
                <a:cs typeface="Arial" pitchFamily="34" charset="0"/>
              </a:rPr>
              <a:t> neural networks </a:t>
            </a:r>
          </a:p>
          <a:p>
            <a:pPr algn="just"/>
            <a:r>
              <a:rPr lang="en-US" sz="1600" dirty="0">
                <a:latin typeface="Arial" pitchFamily="34" charset="0"/>
                <a:cs typeface="Arial" pitchFamily="34" charset="0"/>
              </a:rPr>
              <a:t>      paired with a real-time command dashboard for live</a:t>
            </a:r>
          </a:p>
          <a:p>
            <a:pPr algn="just"/>
            <a:r>
              <a:rPr lang="en-US" sz="1600" dirty="0">
                <a:latin typeface="Arial" pitchFamily="34" charset="0"/>
                <a:cs typeface="Arial" pitchFamily="34" charset="0"/>
              </a:rPr>
              <a:t>      mapping and sensor visualization.  </a:t>
            </a:r>
          </a:p>
          <a:p>
            <a:pPr marL="342900" indent="-342900" algn="just">
              <a:buFont typeface="Arial" panose="020B0604020202020204" pitchFamily="34" charset="0"/>
              <a:buChar char="•"/>
            </a:pPr>
            <a:r>
              <a:rPr lang="en-US" sz="1600" dirty="0">
                <a:latin typeface="Arial" pitchFamily="34" charset="0"/>
                <a:cs typeface="Arial" pitchFamily="34" charset="0"/>
              </a:rPr>
              <a:t>​Delivers zero-latency hazard detection, saves </a:t>
            </a:r>
          </a:p>
          <a:p>
            <a:pPr algn="just"/>
            <a:r>
              <a:rPr lang="en-US" sz="1600" dirty="0">
                <a:latin typeface="Arial" pitchFamily="34" charset="0"/>
                <a:cs typeface="Arial" pitchFamily="34" charset="0"/>
              </a:rPr>
              <a:t>      Bandwidth by filtering noise locally, and ensures</a:t>
            </a:r>
          </a:p>
          <a:p>
            <a:pPr algn="just"/>
            <a:r>
              <a:rPr lang="en-US" sz="1600" dirty="0">
                <a:latin typeface="Arial" pitchFamily="34" charset="0"/>
                <a:cs typeface="Arial" pitchFamily="34" charset="0"/>
              </a:rPr>
              <a:t>      continuous risk monitoring even during network</a:t>
            </a:r>
          </a:p>
          <a:p>
            <a:pPr algn="just"/>
            <a:r>
              <a:rPr lang="en-US" sz="1600" dirty="0">
                <a:latin typeface="Arial" pitchFamily="34" charset="0"/>
                <a:cs typeface="Arial" pitchFamily="34" charset="0"/>
              </a:rPr>
              <a:t>      or power outages.  </a:t>
            </a:r>
          </a:p>
          <a:p>
            <a:pPr marL="342900" indent="-342900" algn="just">
              <a:buFont typeface="Arial" panose="020B0604020202020204" pitchFamily="34" charset="0"/>
              <a:buChar char="•"/>
            </a:pPr>
            <a:r>
              <a:rPr lang="en-US" sz="1600" dirty="0">
                <a:latin typeface="Arial" pitchFamily="34" charset="0"/>
                <a:cs typeface="Arial" pitchFamily="34" charset="0"/>
              </a:rPr>
              <a:t>​Runs AI inference locally on low-cost </a:t>
            </a:r>
          </a:p>
          <a:p>
            <a:pPr algn="just"/>
            <a:r>
              <a:rPr lang="en-US" sz="1600" dirty="0">
                <a:latin typeface="Arial" pitchFamily="34" charset="0"/>
                <a:cs typeface="Arial" pitchFamily="34" charset="0"/>
              </a:rPr>
              <a:t>      microcontrollers, features auto-geolocation without </a:t>
            </a:r>
          </a:p>
          <a:p>
            <a:pPr algn="just"/>
            <a:r>
              <a:rPr lang="en-US" sz="1600" dirty="0">
                <a:latin typeface="Arial" pitchFamily="34" charset="0"/>
                <a:cs typeface="Arial" pitchFamily="34" charset="0"/>
              </a:rPr>
              <a:t>      manual setup, and provides offline resilience for</a:t>
            </a:r>
          </a:p>
          <a:p>
            <a:pPr algn="just"/>
            <a:r>
              <a:rPr lang="en-US" sz="1600" dirty="0">
                <a:latin typeface="Arial" pitchFamily="34" charset="0"/>
                <a:cs typeface="Arial" pitchFamily="34" charset="0"/>
              </a:rPr>
              <a:t>      remote forest and disaster-prone zones.</a:t>
            </a:r>
          </a:p>
          <a:p>
            <a:pPr marL="342900" indent="-342900" algn="just">
              <a:buFont typeface="Arial" panose="020B0604020202020204" pitchFamily="34" charset="0"/>
              <a:buChar char="•"/>
            </a:pPr>
            <a:endParaRPr lang="en-US" sz="1600" dirty="0">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4" y="252246"/>
            <a:ext cx="1479572"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Avengers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5" name="Picture 4">
            <a:extLst>
              <a:ext uri="{FF2B5EF4-FFF2-40B4-BE49-F238E27FC236}">
                <a16:creationId xmlns:a16="http://schemas.microsoft.com/office/drawing/2014/main" id="{1F434282-F39C-E30F-2D96-1D7D49DE02B4}"/>
              </a:ext>
            </a:extLst>
          </p:cNvPr>
          <p:cNvPicPr>
            <a:picLocks noChangeAspect="1"/>
          </p:cNvPicPr>
          <p:nvPr/>
        </p:nvPicPr>
        <p:blipFill>
          <a:blip r:embed="rId4"/>
          <a:stretch>
            <a:fillRect/>
          </a:stretch>
        </p:blipFill>
        <p:spPr>
          <a:xfrm>
            <a:off x="5087566" y="1379313"/>
            <a:ext cx="6942369" cy="49754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609600" y="-113683"/>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609600" y="2533653"/>
            <a:ext cx="9385300" cy="523220"/>
          </a:xfrm>
          <a:prstGeom prst="rect">
            <a:avLst/>
          </a:prstGeom>
          <a:noFill/>
          <a:ln w="9525">
            <a:noFill/>
            <a:miter lim="800000"/>
            <a:headEnd/>
            <a:tailEnd/>
          </a:ln>
        </p:spPr>
        <p:txBody>
          <a:bodyPr wrap="square">
            <a:spAutoFit/>
          </a:bodyPr>
          <a:lstStyle/>
          <a:p>
            <a:pPr marL="342900" indent="-342900" algn="just">
              <a:buFont typeface="Arial" panose="020B0604020202020204" pitchFamily="34" charset="0"/>
              <a:buChar char="•"/>
            </a:pPr>
            <a:endParaRPr lang="en-US" sz="2800" dirty="0">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5036" y="1500"/>
            <a:ext cx="1854899" cy="875849"/>
          </a:xfrm>
          <a:prstGeom prst="rect">
            <a:avLst/>
          </a:prstGeom>
        </p:spPr>
      </p:pic>
      <p:pic>
        <p:nvPicPr>
          <p:cNvPr id="3" name="Picture 2">
            <a:extLst>
              <a:ext uri="{FF2B5EF4-FFF2-40B4-BE49-F238E27FC236}">
                <a16:creationId xmlns:a16="http://schemas.microsoft.com/office/drawing/2014/main" id="{B106862A-4DCF-A492-8575-9F87FDA7F45E}"/>
              </a:ext>
            </a:extLst>
          </p:cNvPr>
          <p:cNvPicPr>
            <a:picLocks noChangeAspect="1"/>
          </p:cNvPicPr>
          <p:nvPr/>
        </p:nvPicPr>
        <p:blipFill>
          <a:blip r:embed="rId4"/>
          <a:srcRect t="10846" b="1969"/>
          <a:stretch>
            <a:fillRect/>
          </a:stretch>
        </p:blipFill>
        <p:spPr>
          <a:xfrm>
            <a:off x="1" y="877350"/>
            <a:ext cx="12191999" cy="5980650"/>
          </a:xfrm>
          <a:prstGeom prst="rect">
            <a:avLst/>
          </a:prstGeom>
        </p:spPr>
      </p:pic>
      <p:sp>
        <p:nvSpPr>
          <p:cNvPr id="4" name="Oval 3" descr="Your startup LOGO">
            <a:extLst>
              <a:ext uri="{FF2B5EF4-FFF2-40B4-BE49-F238E27FC236}">
                <a16:creationId xmlns:a16="http://schemas.microsoft.com/office/drawing/2014/main" id="{6CF85F96-83DA-9234-858C-097B29443070}"/>
              </a:ext>
              <a:ext uri="{C183D7F6-B498-43B3-948B-1728B52AA6E4}">
                <adec:decorative xmlns:adec="http://schemas.microsoft.com/office/drawing/2017/decorative" val="0"/>
              </a:ext>
            </a:extLst>
          </p:cNvPr>
          <p:cNvSpPr/>
          <p:nvPr/>
        </p:nvSpPr>
        <p:spPr>
          <a:xfrm>
            <a:off x="240125" y="70015"/>
            <a:ext cx="149902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Avengers</a:t>
            </a:r>
            <a:endParaRPr lang="en-IN" dirty="0"/>
          </a:p>
        </p:txBody>
      </p:sp>
      <p:sp>
        <p:nvSpPr>
          <p:cNvPr id="14" name="TextBox 13">
            <a:extLst>
              <a:ext uri="{FF2B5EF4-FFF2-40B4-BE49-F238E27FC236}">
                <a16:creationId xmlns:a16="http://schemas.microsoft.com/office/drawing/2014/main" id="{10C2D7DC-EB02-9B96-1DF8-2FB5425DA407}"/>
              </a:ext>
            </a:extLst>
          </p:cNvPr>
          <p:cNvSpPr txBox="1"/>
          <p:nvPr/>
        </p:nvSpPr>
        <p:spPr>
          <a:xfrm>
            <a:off x="8193741" y="5551468"/>
            <a:ext cx="3504486" cy="307777"/>
          </a:xfrm>
          <a:prstGeom prst="rect">
            <a:avLst/>
          </a:prstGeom>
          <a:noFill/>
        </p:spPr>
        <p:txBody>
          <a:bodyPr wrap="none" rtlCol="0">
            <a:spAutoFit/>
          </a:bodyPr>
          <a:lstStyle/>
          <a:p>
            <a:r>
              <a:rPr lang="en-IN" sz="700" i="1" dirty="0"/>
              <a:t>Prototype visual shown for representational purposes only; final implementation may vary.</a:t>
            </a:r>
            <a:endParaRPr lang="en-IN" sz="700" dirty="0"/>
          </a:p>
          <a:p>
            <a:endParaRPr lang="en-IN"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1390652"/>
            <a:ext cx="9385300" cy="4524315"/>
          </a:xfrm>
          <a:prstGeom prst="rect">
            <a:avLst/>
          </a:prstGeom>
          <a:noFill/>
          <a:ln w="9525">
            <a:noFill/>
            <a:miter lim="800000"/>
            <a:headEnd/>
            <a:tailEnd/>
          </a:ln>
        </p:spPr>
        <p:txBody>
          <a:bodyPr wrap="square">
            <a:spAutoFit/>
          </a:bodyPr>
          <a:lstStyle/>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Highly viable due to sub-$5 low-cost microcontrollers (ESP32-S3) and lightweight </a:t>
            </a:r>
            <a:r>
              <a:rPr lang="en-US" sz="1600" dirty="0" err="1">
                <a:solidFill>
                  <a:prstClr val="black"/>
                </a:solidFill>
                <a:latin typeface="Arial" pitchFamily="34" charset="0"/>
                <a:cs typeface="Arial" pitchFamily="34" charset="0"/>
              </a:rPr>
              <a:t>TinyML</a:t>
            </a:r>
            <a:r>
              <a:rPr lang="en-US" sz="1600" dirty="0">
                <a:solidFill>
                  <a:prstClr val="black"/>
                </a:solidFill>
                <a:latin typeface="Arial" pitchFamily="34" charset="0"/>
                <a:cs typeface="Arial" pitchFamily="34" charset="0"/>
              </a:rPr>
              <a:t> deployment, enabling affordable wide-scale network deployment.</a:t>
            </a:r>
          </a:p>
          <a:p>
            <a:pPr marL="342900" lvl="0" indent="-342900" algn="just">
              <a:buFont typeface="Arial" panose="020B0604020202020204" pitchFamily="34" charset="0"/>
              <a:buChar char="•"/>
              <a:defRPr/>
            </a:pPr>
            <a:endParaRPr kumimoji="0" lang="en-US" sz="16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Wi-Fi dependency and power grid limitations in deep remote forests, alongside harsh weather causing false triggers or hardware damage.</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Integrating </a:t>
            </a:r>
            <a:r>
              <a:rPr lang="en-US" sz="1600" dirty="0" err="1">
                <a:solidFill>
                  <a:prstClr val="black"/>
                </a:solidFill>
                <a:latin typeface="Arial" pitchFamily="34" charset="0"/>
                <a:cs typeface="Arial" pitchFamily="34" charset="0"/>
              </a:rPr>
              <a:t>LoRaWAN</a:t>
            </a:r>
            <a:r>
              <a:rPr lang="en-US" sz="1600" dirty="0">
                <a:solidFill>
                  <a:prstClr val="black"/>
                </a:solidFill>
                <a:latin typeface="Arial" pitchFamily="34" charset="0"/>
                <a:cs typeface="Arial" pitchFamily="34" charset="0"/>
              </a:rPr>
              <a:t> for 10–15 km long-range offline mesh connectivity, adding solar charging with deep-sleep power cycles, and using multi-sensor fusion for 99.9% detection accuracy.</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Technical: ESP32-S3 + </a:t>
            </a:r>
            <a:r>
              <a:rPr lang="en-US" sz="1600" dirty="0" err="1">
                <a:solidFill>
                  <a:prstClr val="black"/>
                </a:solidFill>
                <a:latin typeface="Arial" pitchFamily="34" charset="0"/>
                <a:cs typeface="Arial" pitchFamily="34" charset="0"/>
              </a:rPr>
              <a:t>TinyML</a:t>
            </a:r>
            <a:r>
              <a:rPr lang="en-US" sz="1600" dirty="0">
                <a:solidFill>
                  <a:prstClr val="black"/>
                </a:solidFill>
                <a:latin typeface="Arial" pitchFamily="34" charset="0"/>
                <a:cs typeface="Arial" pitchFamily="34" charset="0"/>
              </a:rPr>
              <a:t> enables real-time edge inference.</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Cost: Low-cost hardware + solar power enables affordable deployment.</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Connectivity: </a:t>
            </a:r>
            <a:r>
              <a:rPr lang="en-US" sz="1600" dirty="0" err="1">
                <a:solidFill>
                  <a:prstClr val="black"/>
                </a:solidFill>
                <a:latin typeface="Arial" pitchFamily="34" charset="0"/>
                <a:cs typeface="Arial" pitchFamily="34" charset="0"/>
              </a:rPr>
              <a:t>LoRaWAN</a:t>
            </a:r>
            <a:r>
              <a:rPr lang="en-US" sz="1600" dirty="0">
                <a:solidFill>
                  <a:prstClr val="black"/>
                </a:solidFill>
                <a:latin typeface="Arial" pitchFamily="34" charset="0"/>
                <a:cs typeface="Arial" pitchFamily="34" charset="0"/>
              </a:rPr>
              <a:t> enables long-range communication in remote areas.</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Scalability: </a:t>
            </a:r>
            <a:r>
              <a:rPr lang="en-US" sz="1600" dirty="0" err="1">
                <a:solidFill>
                  <a:prstClr val="black"/>
                </a:solidFill>
                <a:latin typeface="Arial" pitchFamily="34" charset="0"/>
                <a:cs typeface="Arial" pitchFamily="34" charset="0"/>
              </a:rPr>
              <a:t>Supabase</a:t>
            </a:r>
            <a:r>
              <a:rPr lang="en-US" sz="1600" dirty="0">
                <a:solidFill>
                  <a:prstClr val="black"/>
                </a:solidFill>
                <a:latin typeface="Arial" pitchFamily="34" charset="0"/>
                <a:cs typeface="Arial" pitchFamily="34" charset="0"/>
              </a:rPr>
              <a:t>-based architecture supports large-scale deployment.</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Reliability: Edge processing reduces bandwidth dependency and enables offline operation.</a:t>
            </a:r>
            <a:endParaRPr kumimoji="0" lang="en-US" sz="16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2" y="252246"/>
            <a:ext cx="149902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Avengers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609600" y="252245"/>
            <a:ext cx="10972800" cy="1062337"/>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IMPACT AND BENEFITS</a:t>
            </a:r>
            <a:br>
              <a:rPr lang="en-US" sz="2800" b="1" dirty="0">
                <a:latin typeface="Times New Roman" panose="02020603050405020304" pitchFamily="18" charset="0"/>
                <a:ea typeface="ＭＳ Ｐゴシック" pitchFamily="1" charset="-128"/>
                <a:cs typeface="Times New Roman" panose="02020603050405020304" pitchFamily="18" charset="0"/>
              </a:rPr>
            </a:br>
            <a:endParaRPr lang="en-US" sz="2800" b="1" dirty="0">
              <a:latin typeface="Times New Roman" panose="02020603050405020304" pitchFamily="18" charset="0"/>
              <a:ea typeface="ＭＳ Ｐゴシック" pitchFamily="1" charset="-128"/>
              <a:cs typeface="Times New Roman" panose="02020603050405020304" pitchFamily="18" charset="0"/>
            </a:endParaRPr>
          </a:p>
        </p:txBody>
      </p:sp>
      <p:sp>
        <p:nvSpPr>
          <p:cNvPr id="17410" name="TextBox 8"/>
          <p:cNvSpPr txBox="1">
            <a:spLocks noChangeArrowheads="1"/>
          </p:cNvSpPr>
          <p:nvPr/>
        </p:nvSpPr>
        <p:spPr bwMode="auto">
          <a:xfrm>
            <a:off x="609600" y="1157591"/>
            <a:ext cx="9385300" cy="5161713"/>
          </a:xfrm>
          <a:prstGeom prst="rect">
            <a:avLst/>
          </a:prstGeom>
          <a:noFill/>
          <a:ln w="9525">
            <a:noFill/>
            <a:miter lim="800000"/>
            <a:headEnd/>
            <a:tailEnd/>
          </a:ln>
        </p:spPr>
        <p:txBody>
          <a:bodyPr wrap="square">
            <a:normAutofit/>
          </a:bodyPr>
          <a:lstStyle/>
          <a:p>
            <a:pPr lvl="0" algn="just">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​Empowers disaster authorities (NDMA, forest departments, local municipal councils) with localized early intelligence to shift from reactive disaster management to proactive risk prevention.</a:t>
            </a:r>
          </a:p>
          <a:p>
            <a:pPr lvl="0" algn="just">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​Environmental &amp; Social: Rapid real-time detection of forest fires, hazardous pollution, and flash floods reduces ecosystem destruction, saves human lives, and protects vulnerable local communities.  </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Substantially lowers cloud server bandwidth costs through on-chip Edge AI filtering, while low-cost hardware enables economical mass deployment across large states.</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Faster Response: Real-time edge detection enables early, actionable hazard alerts.</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Scalable Deployment: Modular architecture supports expansion from a few nodes to large-scale </a:t>
            </a:r>
            <a:r>
              <a:rPr lang="en-US" sz="1600">
                <a:solidFill>
                  <a:prstClr val="black"/>
                </a:solidFill>
                <a:latin typeface="Arial" pitchFamily="34" charset="0"/>
                <a:cs typeface="Arial" pitchFamily="34" charset="0"/>
              </a:rPr>
              <a:t>networks.</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Planned future updates include developing online simulations for soil moisture, rainfall, and ground vibration to train </a:t>
            </a:r>
            <a:r>
              <a:rPr lang="en-US" sz="1600" dirty="0" err="1">
                <a:solidFill>
                  <a:prstClr val="black"/>
                </a:solidFill>
                <a:latin typeface="Arial" pitchFamily="34" charset="0"/>
                <a:cs typeface="Arial" pitchFamily="34" charset="0"/>
              </a:rPr>
              <a:t>TinyML</a:t>
            </a:r>
            <a:r>
              <a:rPr lang="en-US" sz="1600" dirty="0">
                <a:solidFill>
                  <a:prstClr val="black"/>
                </a:solidFill>
                <a:latin typeface="Arial" pitchFamily="34" charset="0"/>
                <a:cs typeface="Arial" pitchFamily="34" charset="0"/>
              </a:rPr>
              <a:t> models for flood and landslide prediction. This will be paired with ultrasonic water-level and vibration sensors to expand our current prototype into a full multi-hazard warning system.</a:t>
            </a:r>
            <a:endParaRPr kumimoji="0" lang="en-US" sz="16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9" name="TextBox 8">
            <a:extLst>
              <a:ext uri="{FF2B5EF4-FFF2-40B4-BE49-F238E27FC236}">
                <a16:creationId xmlns:a16="http://schemas.microsoft.com/office/drawing/2014/main" id="{A1413221-197D-8F64-57FA-2331CD56143F}"/>
              </a:ext>
            </a:extLst>
          </p:cNvPr>
          <p:cNvSpPr txBox="1"/>
          <p:nvPr/>
        </p:nvSpPr>
        <p:spPr>
          <a:xfrm>
            <a:off x="10116766" y="1955260"/>
            <a:ext cx="184731" cy="369332"/>
          </a:xfrm>
          <a:prstGeom prst="rect">
            <a:avLst/>
          </a:prstGeom>
          <a:noFill/>
        </p:spPr>
        <p:txBody>
          <a:bodyPr wrap="none" rtlCol="0">
            <a:spAutoFit/>
          </a:bodyPr>
          <a:lstStyle/>
          <a:p>
            <a:endParaRPr lang="en-IN" dirty="0"/>
          </a:p>
        </p:txBody>
      </p:sp>
      <p:sp>
        <p:nvSpPr>
          <p:cNvPr id="3" name="Oval 2" descr="Your startup LOGO">
            <a:extLst>
              <a:ext uri="{FF2B5EF4-FFF2-40B4-BE49-F238E27FC236}">
                <a16:creationId xmlns:a16="http://schemas.microsoft.com/office/drawing/2014/main" id="{7A552C3D-C2D3-FC47-452F-D06D4CD7CB61}"/>
              </a:ext>
              <a:ext uri="{C183D7F6-B498-43B3-948B-1728B52AA6E4}">
                <adec:decorative xmlns:adec="http://schemas.microsoft.com/office/drawing/2017/decorative" val="0"/>
              </a:ext>
            </a:extLst>
          </p:cNvPr>
          <p:cNvSpPr/>
          <p:nvPr/>
        </p:nvSpPr>
        <p:spPr>
          <a:xfrm>
            <a:off x="329772" y="252246"/>
            <a:ext cx="149902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Avengers</a:t>
            </a:r>
            <a:endParaRPr lang="en-IN" dirty="0"/>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1144500"/>
            <a:ext cx="9385300" cy="4945015"/>
          </a:xfrm>
          <a:prstGeom prst="rect">
            <a:avLst/>
          </a:prstGeom>
          <a:noFill/>
          <a:ln w="9525">
            <a:noFill/>
            <a:miter lim="800000"/>
            <a:headEnd/>
            <a:tailEnd/>
          </a:ln>
        </p:spPr>
        <p:txBody>
          <a:bodyPr wrap="square">
            <a:normAutofit lnSpcReduction="10000"/>
          </a:bodyPr>
          <a:lstStyle/>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Hardware &amp; Edge AI Frameworks:</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 ​Edge Impulse &amp; TensorFlow Lite: Used for training and flashing neural networks locally on ESP32-S3 microcontrollers for real-time anomaly detection (https://studio.edgeimpulse.com/).  </a:t>
            </a: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 ​Arduino C++ Runtime: Embedded execution engine for low-latency processing and local sensor</a:t>
            </a:r>
          </a:p>
          <a:p>
            <a:pPr lvl="0" algn="just">
              <a:defRPr/>
            </a:pPr>
            <a:r>
              <a:rPr lang="en-US" sz="1600" dirty="0">
                <a:solidFill>
                  <a:prstClr val="black"/>
                </a:solidFill>
                <a:latin typeface="Arial" pitchFamily="34" charset="0"/>
                <a:cs typeface="Arial" pitchFamily="34" charset="0"/>
              </a:rPr>
              <a:t>      feature extraction (https://www.arduino.cc/en/software).  </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​Command Center &amp; Data Pipeline Sources:  </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​Leaflet.js &amp; Carto Dark Maps: Open-source JavaScript libraries used for real-time interactive GIS mapping and node tracking (https://leafletjs.com/).  </a:t>
            </a: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​Chart.js Telemetry Engine: Dual-axis visualization library for plotting real-time sensor streams (Surface Temp &amp; Smoke Index) (https://www.chartjs.org/).  </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a:t>
            </a:r>
            <a:r>
              <a:rPr lang="en-US" sz="1600" dirty="0" err="1">
                <a:solidFill>
                  <a:prstClr val="black"/>
                </a:solidFill>
                <a:latin typeface="Arial" pitchFamily="34" charset="0"/>
                <a:cs typeface="Arial" pitchFamily="34" charset="0"/>
              </a:rPr>
              <a:t>Supabase</a:t>
            </a:r>
            <a:r>
              <a:rPr lang="en-US" sz="1600" dirty="0">
                <a:solidFill>
                  <a:prstClr val="black"/>
                </a:solidFill>
                <a:latin typeface="Arial" pitchFamily="34" charset="0"/>
                <a:cs typeface="Arial" pitchFamily="34" charset="0"/>
              </a:rPr>
              <a:t> REST API &amp; PostgreSQL: </a:t>
            </a:r>
          </a:p>
          <a:p>
            <a:pPr marL="342900" lvl="0" indent="-342900" algn="just">
              <a:buFont typeface="Arial" panose="020B0604020202020204" pitchFamily="34" charset="0"/>
              <a:buChar char="•"/>
              <a:defRPr/>
            </a:pPr>
            <a:endParaRPr lang="en-US" sz="1600" dirty="0">
              <a:solidFill>
                <a:prstClr val="black"/>
              </a:solidFill>
              <a:latin typeface="Arial" pitchFamily="34" charset="0"/>
              <a:cs typeface="Arial" pitchFamily="34" charset="0"/>
            </a:endParaRP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Cloud backend infrastructure for lightweight JSON data transmission and live polling (https://supabase.com/).  </a:t>
            </a: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​Disaster Management Standards:</a:t>
            </a:r>
          </a:p>
          <a:p>
            <a:pPr marL="342900" lvl="0" indent="-342900" algn="just">
              <a:buFont typeface="Arial" panose="020B0604020202020204" pitchFamily="34" charset="0"/>
              <a:buChar char="•"/>
              <a:defRPr/>
            </a:pPr>
            <a:r>
              <a:rPr lang="en-US" sz="1600" dirty="0">
                <a:solidFill>
                  <a:prstClr val="black"/>
                </a:solidFill>
                <a:latin typeface="Arial" pitchFamily="34" charset="0"/>
                <a:cs typeface="Arial" pitchFamily="34" charset="0"/>
              </a:rPr>
              <a:t>​NDMA SACHET Portal Alignment: Integrates standard emergency warning protocols and risk assessment parameters for authorities (https://sachet.ndma.gov.in/).</a:t>
            </a:r>
            <a:endParaRPr kumimoji="0" lang="en-US" sz="16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586576"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Avengers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cxnSp>
        <p:nvCxnSpPr>
          <p:cNvPr id="3" name="Straight Connector 2">
            <a:extLst>
              <a:ext uri="{FF2B5EF4-FFF2-40B4-BE49-F238E27FC236}">
                <a16:creationId xmlns:a16="http://schemas.microsoft.com/office/drawing/2014/main" id="{4B60ABE4-0762-5D83-C93F-24648798E1FC}"/>
              </a:ext>
            </a:extLst>
          </p:cNvPr>
          <p:cNvCxnSpPr/>
          <p:nvPr/>
        </p:nvCxnSpPr>
        <p:spPr>
          <a:xfrm>
            <a:off x="992221" y="1420238"/>
            <a:ext cx="307394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E126006-0113-5085-CF0F-29F1A72990A8}"/>
              </a:ext>
            </a:extLst>
          </p:cNvPr>
          <p:cNvCxnSpPr>
            <a:cxnSpLocks/>
          </p:cNvCxnSpPr>
          <p:nvPr/>
        </p:nvCxnSpPr>
        <p:spPr>
          <a:xfrm flipV="1">
            <a:off x="992221" y="2966935"/>
            <a:ext cx="4075890"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016D09E-AAFB-B2E5-BA49-8C28D78D76B4}"/>
              </a:ext>
            </a:extLst>
          </p:cNvPr>
          <p:cNvCxnSpPr>
            <a:cxnSpLocks/>
          </p:cNvCxnSpPr>
          <p:nvPr/>
        </p:nvCxnSpPr>
        <p:spPr>
          <a:xfrm>
            <a:off x="992221" y="4464996"/>
            <a:ext cx="343386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7703</TotalTime>
  <Words>728</Words>
  <Application>Microsoft Office PowerPoint</Application>
  <PresentationFormat>Widescreen</PresentationFormat>
  <Paragraphs>96</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ＭＳ Ｐゴシック</vt:lpstr>
      <vt:lpstr>Arial</vt:lpstr>
      <vt:lpstr>Calibri</vt:lpstr>
      <vt:lpstr>Garamond</vt:lpstr>
      <vt:lpstr>Times New Roman</vt:lpstr>
      <vt:lpstr>TradeGothic</vt:lpstr>
      <vt:lpstr>Wingdings</vt:lpstr>
      <vt:lpstr>Office Theme</vt:lpstr>
      <vt:lpstr>SMART INDIA HACKATHON 2026</vt:lpstr>
      <vt:lpstr> Resilient AI-Powered Environmental Monitoring  Network For Early Multi-Hazard Detection</vt:lpstr>
      <vt:lpstr>TECHNICAL APPROACH</vt:lpstr>
      <vt:lpstr>FEASIBILITY AND VIABILITY</vt:lpstr>
      <vt:lpstr>IMPACT AND BENEFITS </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Shubham Kumar</cp:lastModifiedBy>
  <cp:revision>152</cp:revision>
  <dcterms:created xsi:type="dcterms:W3CDTF">2013-12-12T18:46:50Z</dcterms:created>
  <dcterms:modified xsi:type="dcterms:W3CDTF">2026-09-10T17:01:33Z</dcterms:modified>
  <cp:category/>
</cp:coreProperties>
</file>